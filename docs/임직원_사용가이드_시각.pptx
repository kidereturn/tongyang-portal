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640080"/>
            <a:ext cx="384048" cy="384048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71323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0B1FB"/>
                </a:solidFill>
                <a:latin typeface="JetBrains Mono"/>
              </a:rPr>
              <a:t>TYIA · 시각 사용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>
                <a:solidFill>
                  <a:srgbClr val="FFFFFF"/>
                </a:solidFill>
                <a:latin typeface="Pretendard"/>
              </a:rPr>
              <a:t>보면 따라할 수 있는
증빙 업무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80B1FB"/>
                </a:solidFill>
                <a:latin typeface="Pretendard"/>
              </a:rPr>
              <a:t>담당자 (OWNER) · 승인자 (CONTROLLER) 화면 캡쳐 기반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0B8C1"/>
                </a:solidFill>
                <a:latin typeface="Pretendard"/>
              </a:rPr>
              <a:t>(주)동양 내부회계관리실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0350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1">
                <a:solidFill>
                  <a:srgbClr val="80B1FB"/>
                </a:solidFill>
                <a:latin typeface="JetBrains Mono"/>
              </a:rPr>
              <a:t>https://tyia.vercel.app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164592"/>
            <a:ext cx="164592" cy="16459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1E36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2194560"/>
            <a:ext cx="548640" cy="548640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240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3182F6"/>
                </a:solidFill>
                <a:latin typeface="JetBrains Mono"/>
              </a:rPr>
              <a:t>PART 1 · 담당자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0F1E36"/>
                </a:solidFill>
                <a:latin typeface="Pretendard"/>
              </a:rPr>
              <a:t>OWNER 워크플로우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8B95A1"/>
                </a:solidFill>
                <a:latin typeface="Pretendard"/>
              </a:rPr>
              <a:t>OWNER · 442명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164592"/>
            <a:ext cx="164592" cy="16459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1E36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45775" y="9144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OWNER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JetBrains Mono"/>
              </a:rPr>
              <a:t>OWNER ·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F1E36"/>
                </a:solidFill>
                <a:latin typeface="Pretendard"/>
              </a:rPr>
              <a:t>사번과 비밀번호로 로그인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768096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wn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680960" cy="4480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412480" y="1874519"/>
            <a:ext cx="32461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2240279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Pretendard"/>
              </a:rPr>
              <a:t>단계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761487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74319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사번 입력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10895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회사 사번 6자리 (예: 101267)</a:t>
            </a:r>
          </a:p>
        </p:txBody>
      </p:sp>
      <p:sp>
        <p:nvSpPr>
          <p:cNvPr id="17" name="Oval 16"/>
          <p:cNvSpPr/>
          <p:nvPr/>
        </p:nvSpPr>
        <p:spPr>
          <a:xfrm>
            <a:off x="8732520" y="3767327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74903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비밀번호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411479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ty + 사번 (첫 로그인용)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773167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75487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로그인 클릭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512063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엔터키도 가능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Pretendard"/>
              </a:rPr>
              <a:t>내부회계 포털 (TYIA) · 시각 가이드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JetBrains Mono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164592"/>
            <a:ext cx="164592" cy="16459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1E36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45775" y="9144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OWNER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JetBrains Mono"/>
              </a:rPr>
              <a:t>OWNER ·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F1E36"/>
                </a:solidFill>
                <a:latin typeface="Pretendard"/>
              </a:rPr>
              <a:t>홈 화면 — 내 KPI · 검토 상태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768096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680960" cy="4480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412480" y="1874519"/>
            <a:ext cx="32461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2240279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Pretendard"/>
              </a:rPr>
              <a:t>단계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761487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74319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내 점수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10895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이번 달 적립 포인트와 KPI 점수</a:t>
            </a:r>
          </a:p>
        </p:txBody>
      </p:sp>
      <p:sp>
        <p:nvSpPr>
          <p:cNvPr id="17" name="Oval 16"/>
          <p:cNvSpPr/>
          <p:nvPr/>
        </p:nvSpPr>
        <p:spPr>
          <a:xfrm>
            <a:off x="8732520" y="3767327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74903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공지·매뉴얼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411479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관리자가 공유한 최신 정보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773167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75487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GNB 메뉴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512063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상단 네비게이션 항상 노출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Pretendard"/>
              </a:rPr>
              <a:t>내부회계 포털 (TYIA) · 시각 가이드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JetBrains Mono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164592"/>
            <a:ext cx="164592" cy="16459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1E36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45775" y="9144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OWNER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JetBrains Mono"/>
              </a:rPr>
              <a:t>OWNER ·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F1E36"/>
                </a:solidFill>
                <a:latin typeface="Pretendard"/>
              </a:rPr>
              <a:t>GNB 에서 ‘증빙관리’ 클릭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768096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wn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680960" cy="4480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412480" y="1874519"/>
            <a:ext cx="32461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2240279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Pretendard"/>
              </a:rPr>
              <a:t>단계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761487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74319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증빙관리 메뉴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10895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모든 업무는 여기서 시작</a:t>
            </a:r>
          </a:p>
        </p:txBody>
      </p:sp>
      <p:sp>
        <p:nvSpPr>
          <p:cNvPr id="17" name="Oval 16"/>
          <p:cNvSpPr/>
          <p:nvPr/>
        </p:nvSpPr>
        <p:spPr>
          <a:xfrm>
            <a:off x="8732520" y="3767327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74903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내 담당만 표시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411479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다른 사람 활동은 보이지 않음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Pretendard"/>
              </a:rPr>
              <a:t>내부회계 포털 (TYIA) · 시각 가이드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JetBrains Mono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164592"/>
            <a:ext cx="164592" cy="16459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1E36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45775" y="9144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OWNER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JetBrains Mono"/>
              </a:rPr>
              <a:t>OWNER ·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F1E36"/>
                </a:solidFill>
                <a:latin typeface="Pretendard"/>
              </a:rPr>
              <a:t>증빙목록 — 내 통제활동 한눈에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768096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4-evidence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680960" cy="4480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412480" y="1874519"/>
            <a:ext cx="32461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2240279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Pretendard"/>
              </a:rPr>
              <a:t>단계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761487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74319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상태별 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10895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전체·상신완료·승인·수정제출·미완료</a:t>
            </a:r>
          </a:p>
        </p:txBody>
      </p:sp>
      <p:sp>
        <p:nvSpPr>
          <p:cNvPr id="17" name="Oval 16"/>
          <p:cNvSpPr/>
          <p:nvPr/>
        </p:nvSpPr>
        <p:spPr>
          <a:xfrm>
            <a:off x="8732520" y="3767327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74903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필터 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411479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원하는 상태만 골라보기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773167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75487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새로고침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512063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최신 상태로 즉시 동기화</a:t>
            </a:r>
          </a:p>
        </p:txBody>
      </p:sp>
      <p:sp>
        <p:nvSpPr>
          <p:cNvPr id="23" name="Oval 22"/>
          <p:cNvSpPr/>
          <p:nvPr/>
        </p:nvSpPr>
        <p:spPr>
          <a:xfrm>
            <a:off x="8732520" y="5779007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576071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엑셀 다운로드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612647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전체 목록 한번에 저장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Pretendard"/>
              </a:rPr>
              <a:t>내부회계 포털 (TYIA) · 시각 가이드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JetBrains Mono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164592"/>
            <a:ext cx="164592" cy="16459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1E36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45775" y="9144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OWNER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JetBrains Mono"/>
              </a:rPr>
              <a:t>OWNER ·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F1E36"/>
                </a:solidFill>
                <a:latin typeface="Pretendard"/>
              </a:rPr>
              <a:t>각 행의 ‘증빙확인’ 버튼 클릭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768096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wn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680960" cy="4480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412480" y="1874519"/>
            <a:ext cx="32461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2240279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Pretendard"/>
              </a:rPr>
              <a:t>단계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761487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74319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증빙확인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10895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통제활동별 상세 모달 열기</a:t>
            </a:r>
          </a:p>
        </p:txBody>
      </p:sp>
      <p:sp>
        <p:nvSpPr>
          <p:cNvPr id="17" name="Oval 16"/>
          <p:cNvSpPr/>
          <p:nvPr/>
        </p:nvSpPr>
        <p:spPr>
          <a:xfrm>
            <a:off x="8732520" y="3767327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74903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건수 컬럼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411479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업로드된 모집단 / 전체 모집단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Pretendard"/>
              </a:rPr>
              <a:t>내부회계 포털 (TYIA) · 시각 가이드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JetBrains Mono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164592"/>
            <a:ext cx="164592" cy="16459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1E36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45775" y="9144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OWNER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JetBrains Mono"/>
              </a:rPr>
              <a:t>OWNER ·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F1E36"/>
                </a:solidFill>
                <a:latin typeface="Pretendard"/>
              </a:rPr>
              <a:t>모달 열림 — 모집단 + 파일 영역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768096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-modal-ope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680960" cy="4480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412480" y="1874519"/>
            <a:ext cx="32461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2240279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Pretendard"/>
              </a:rPr>
              <a:t>단계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761487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74319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모집단 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10895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각 행이 증빙을 첨부할 단위</a:t>
            </a:r>
          </a:p>
        </p:txBody>
      </p:sp>
      <p:sp>
        <p:nvSpPr>
          <p:cNvPr id="17" name="Oval 16"/>
          <p:cNvSpPr/>
          <p:nvPr/>
        </p:nvSpPr>
        <p:spPr>
          <a:xfrm>
            <a:off x="8732520" y="3767327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74903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파일 박스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411479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업로드 결과 + 진행률 표시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773167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75487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엑셀·ZIP 다운로드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512063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기존 자료 일괄 받기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Pretendard"/>
              </a:rPr>
              <a:t>내부회계 포털 (TYIA) · 시각 가이드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JetBrains Mono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164592"/>
            <a:ext cx="164592" cy="16459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1E36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45775" y="9144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OWNER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JetBrains Mono"/>
              </a:rPr>
              <a:t>OWNER ·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F1E36"/>
                </a:solidFill>
                <a:latin typeface="Pretendard"/>
              </a:rPr>
              <a:t>드롭존에 파일 드래그앤드롭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768096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wn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680960" cy="4480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412480" y="1874519"/>
            <a:ext cx="32461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2240279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Pretendard"/>
              </a:rPr>
              <a:t>단계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761487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74319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드롭존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10895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여기에 파일을 끌어다 놓기</a:t>
            </a:r>
          </a:p>
        </p:txBody>
      </p:sp>
      <p:sp>
        <p:nvSpPr>
          <p:cNvPr id="17" name="Oval 16"/>
          <p:cNvSpPr/>
          <p:nvPr/>
        </p:nvSpPr>
        <p:spPr>
          <a:xfrm>
            <a:off x="8732520" y="3767327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74903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PDF·Excel 지원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411479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다중 선택 가능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773167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75487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자동 중간저장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512063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파일 추가 시 즉시 저장 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Pretendard"/>
              </a:rPr>
              <a:t>내부회계 포털 (TYIA) · 시각 가이드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JetBrains Mono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164592"/>
            <a:ext cx="164592" cy="16459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1E36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45775" y="9144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OWNER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JetBrains Mono"/>
              </a:rPr>
              <a:t>OWNER ·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F1E36"/>
                </a:solidFill>
                <a:latin typeface="Pretendard"/>
              </a:rPr>
              <a:t>업로드 후 — 다운로드·교체·삭제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768096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-modal-ope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680960" cy="4480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412480" y="1874519"/>
            <a:ext cx="32461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2240279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Pretendard"/>
              </a:rPr>
              <a:t>단계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761487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74319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다운로드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10895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본인 업로드 파일 다시 받기</a:t>
            </a:r>
          </a:p>
        </p:txBody>
      </p:sp>
      <p:sp>
        <p:nvSpPr>
          <p:cNvPr id="17" name="Oval 16"/>
          <p:cNvSpPr/>
          <p:nvPr/>
        </p:nvSpPr>
        <p:spPr>
          <a:xfrm>
            <a:off x="8732520" y="3767327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74903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교체 / 삭제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411479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잘못 올렸을 때 즉시 수정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773167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75487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진행률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512063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100% 도달 시 결재상신 활성화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Pretendard"/>
              </a:rPr>
              <a:t>내부회계 포털 (TYIA) · 시각 가이드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JetBrains Mono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164592"/>
            <a:ext cx="164592" cy="16459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1E36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45775" y="9144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OWNER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JetBrains Mono"/>
              </a:rPr>
              <a:t>OWNER ·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F1E36"/>
                </a:solidFill>
                <a:latin typeface="Pretendard"/>
              </a:rPr>
              <a:t>결재상신 — 한 번 클릭으로 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768096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wn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680960" cy="4480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412480" y="1874519"/>
            <a:ext cx="32461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2240279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Pretendard"/>
              </a:rPr>
              <a:t>단계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761487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74319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결재상신 / 중간저장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10895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모든 모집단 완료 후 활성화</a:t>
            </a:r>
          </a:p>
        </p:txBody>
      </p:sp>
      <p:sp>
        <p:nvSpPr>
          <p:cNvPr id="17" name="Oval 16"/>
          <p:cNvSpPr/>
          <p:nvPr/>
        </p:nvSpPr>
        <p:spPr>
          <a:xfrm>
            <a:off x="8732520" y="3767327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74903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자동 알림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411479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승인자에게 즉시 전달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Pretendard"/>
              </a:rPr>
              <a:t>내부회계 포털 (TYIA) · 시각 가이드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JetBrains Mono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164592"/>
            <a:ext cx="164592" cy="16459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1E36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2194560"/>
            <a:ext cx="548640" cy="5486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240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6A34A"/>
                </a:solidFill>
                <a:latin typeface="JetBrains Mono"/>
              </a:rPr>
              <a:t>PART 2 · 승인자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0F1E36"/>
                </a:solidFill>
                <a:latin typeface="Pretendard"/>
              </a:rPr>
              <a:t>CONTROLLER 워크플로우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8B95A1"/>
                </a:solidFill>
                <a:latin typeface="Pretendard"/>
              </a:rPr>
              <a:t>CONTROLLER · 33명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164592"/>
            <a:ext cx="164592" cy="16459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1E36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45775" y="9144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CONTROLLER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6A34A"/>
                </a:solidFill>
                <a:latin typeface="JetBrains Mono"/>
              </a:rPr>
              <a:t>CONTROLLER ·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F1E36"/>
                </a:solidFill>
                <a:latin typeface="Pretendard"/>
              </a:rPr>
              <a:t>홈 — CONTROLLER 라벨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768096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-home-control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680960" cy="4480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412480" y="1874519"/>
            <a:ext cx="32461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2240279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6A34A"/>
                </a:solidFill>
                <a:latin typeface="Pretendard"/>
              </a:rPr>
              <a:t>단계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761487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74319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역할 표시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10895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우측 상단에 CONTROLLER</a:t>
            </a:r>
          </a:p>
        </p:txBody>
      </p:sp>
      <p:sp>
        <p:nvSpPr>
          <p:cNvPr id="17" name="Oval 16"/>
          <p:cNvSpPr/>
          <p:nvPr/>
        </p:nvSpPr>
        <p:spPr>
          <a:xfrm>
            <a:off x="8732520" y="3767327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74903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검토 대기 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411479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결재 대기 건수 한눈에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Pretendard"/>
              </a:rPr>
              <a:t>내부회계 포털 (TYIA) · 시각 가이드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JetBrains Mono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164592"/>
            <a:ext cx="164592" cy="16459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1E36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45775" y="9144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CONTROLLER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6A34A"/>
                </a:solidFill>
                <a:latin typeface="JetBrains Mono"/>
              </a:rPr>
              <a:t>CONTROLLER ·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F1E36"/>
                </a:solidFill>
                <a:latin typeface="Pretendard"/>
              </a:rPr>
              <a:t>증빙관리 — 본인 담당 통제활동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768096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4-evidence-control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680960" cy="4480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412480" y="1874519"/>
            <a:ext cx="32461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2240279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6A34A"/>
                </a:solidFill>
                <a:latin typeface="Pretendard"/>
              </a:rPr>
              <a:t>단계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761487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74319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내가 검토할 활동만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10895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담당자 상신완료된 건</a:t>
            </a:r>
          </a:p>
        </p:txBody>
      </p:sp>
      <p:sp>
        <p:nvSpPr>
          <p:cNvPr id="17" name="Oval 16"/>
          <p:cNvSpPr/>
          <p:nvPr/>
        </p:nvSpPr>
        <p:spPr>
          <a:xfrm>
            <a:off x="8732520" y="3767327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74903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결재 컬럼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411479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행별 ‘승인 / 반려’ 노출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Pretendard"/>
              </a:rPr>
              <a:t>내부회계 포털 (TYIA) · 시각 가이드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JetBrains Mono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164592"/>
            <a:ext cx="164592" cy="16459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1E36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45775" y="9144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CONTROLLER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6A34A"/>
                </a:solidFill>
                <a:latin typeface="JetBrains Mono"/>
              </a:rPr>
              <a:t>CONTROLLER ·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F1E36"/>
                </a:solidFill>
                <a:latin typeface="Pretendard"/>
              </a:rPr>
              <a:t>행 단위 ‘승인 / 반려’ 처리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768096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trl-0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680960" cy="4480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412480" y="1874519"/>
            <a:ext cx="32461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2240279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6A34A"/>
                </a:solidFill>
                <a:latin typeface="Pretendard"/>
              </a:rPr>
              <a:t>단계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761487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74319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승인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10895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즉시 ‘승인완료’ 로 전환</a:t>
            </a:r>
          </a:p>
        </p:txBody>
      </p:sp>
      <p:sp>
        <p:nvSpPr>
          <p:cNvPr id="17" name="Oval 16"/>
          <p:cNvSpPr/>
          <p:nvPr/>
        </p:nvSpPr>
        <p:spPr>
          <a:xfrm>
            <a:off x="8732520" y="3767327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74903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반려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411479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사유 입력 → 담당자 알림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773167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75487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재상신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512063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담당자가 수정 후 다시 상신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Pretendard"/>
              </a:rPr>
              <a:t>내부회계 포털 (TYIA) · 시각 가이드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JetBrains Mono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164592"/>
            <a:ext cx="164592" cy="16459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1E36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45775" y="9144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CONTROLLER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6A34A"/>
                </a:solidFill>
                <a:latin typeface="JetBrains Mono"/>
              </a:rPr>
              <a:t>CONTROLLER ·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F1E36"/>
                </a:solidFill>
                <a:latin typeface="Pretendard"/>
              </a:rPr>
              <a:t>증빙확인 모달 — 파일 검토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768096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-modal-control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680960" cy="4480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412480" y="1874519"/>
            <a:ext cx="32461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2240279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6A34A"/>
                </a:solidFill>
                <a:latin typeface="Pretendard"/>
              </a:rPr>
              <a:t>단계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761487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74319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모집단 + 파일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10895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업로드된 증빙 일괄 확인</a:t>
            </a:r>
          </a:p>
        </p:txBody>
      </p:sp>
      <p:sp>
        <p:nvSpPr>
          <p:cNvPr id="17" name="Oval 16"/>
          <p:cNvSpPr/>
          <p:nvPr/>
        </p:nvSpPr>
        <p:spPr>
          <a:xfrm>
            <a:off x="8732520" y="3767327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74903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다운로드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411479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개별 파일 받아 보기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773167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75487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전체 ZIP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512063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모든 첨부 한번에 받기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Pretendard"/>
              </a:rPr>
              <a:t>내부회계 포털 (TYIA) · 시각 가이드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JetBrains Mono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164592"/>
            <a:ext cx="164592" cy="16459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1E36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45775" y="9144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CONTROLLER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6A34A"/>
                </a:solidFill>
                <a:latin typeface="JetBrains Mono"/>
              </a:rPr>
              <a:t>CONTROLLER ·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F1E36"/>
                </a:solidFill>
                <a:latin typeface="Pretendard"/>
              </a:rPr>
              <a:t>다운로드 / ZIP / 모달 액션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768096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trl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680960" cy="4480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412480" y="1874519"/>
            <a:ext cx="32461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2240279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6A34A"/>
                </a:solidFill>
                <a:latin typeface="Pretendard"/>
              </a:rPr>
              <a:t>단계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761487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74319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전체 ZIP 다운로드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10895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모든 증빙 한번에 저장</a:t>
            </a:r>
          </a:p>
        </p:txBody>
      </p:sp>
      <p:sp>
        <p:nvSpPr>
          <p:cNvPr id="17" name="Oval 16"/>
          <p:cNvSpPr/>
          <p:nvPr/>
        </p:nvSpPr>
        <p:spPr>
          <a:xfrm>
            <a:off x="8732520" y="3767327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74903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승인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411479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모달 안에서도 즉시 처리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773167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75487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1E36"/>
                </a:solidFill>
                <a:latin typeface="Pretendard"/>
              </a:rPr>
              <a:t>반려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512063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6F"/>
                </a:solidFill>
                <a:latin typeface="Pretendard"/>
              </a:rPr>
              <a:t>사유 입력창 표시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Pretendard"/>
              </a:rPr>
              <a:t>내부회계 포털 (TYIA) · 시각 가이드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JetBrains Mono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80B1FB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200" b="1">
                <a:solidFill>
                  <a:srgbClr val="FFFFFF"/>
                </a:solidFill>
                <a:latin typeface="Pretendard"/>
              </a:rPr>
              <a:t>이 5장만 외워도 충분합니다.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91840"/>
            <a:ext cx="2194560" cy="2286000"/>
          </a:xfrm>
          <a:prstGeom prst="roundRect">
            <a:avLst>
              <a:gd name="adj" fmla="val 5000"/>
            </a:avLst>
          </a:prstGeom>
          <a:solidFill>
            <a:srgbClr val="1A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80B1FB"/>
                </a:solidFill>
                <a:latin typeface="JetBrains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tyia.vercel.app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0B1FB"/>
                </a:solidFill>
                <a:latin typeface="Pretendard"/>
              </a:rPr>
              <a:t>사번 / ty+사번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4368" y="3291840"/>
            <a:ext cx="2194560" cy="2286000"/>
          </a:xfrm>
          <a:prstGeom prst="roundRect">
            <a:avLst>
              <a:gd name="adj" fmla="val 5000"/>
            </a:avLst>
          </a:prstGeom>
          <a:solidFill>
            <a:srgbClr val="1A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18688" y="356616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80B1FB"/>
                </a:solidFill>
                <a:latin typeface="JetBrains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688" y="42976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증빙관리 → 증빙확인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489204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0B1FB"/>
                </a:solidFill>
                <a:latin typeface="Pretendard"/>
              </a:rPr>
              <a:t>행 클릭 → 모달 열기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48656" y="3291840"/>
            <a:ext cx="2194560" cy="2286000"/>
          </a:xfrm>
          <a:prstGeom prst="roundRect">
            <a:avLst>
              <a:gd name="adj" fmla="val 5000"/>
            </a:avLst>
          </a:prstGeom>
          <a:solidFill>
            <a:srgbClr val="1A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22976" y="356616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80B1FB"/>
                </a:solidFill>
                <a:latin typeface="JetBrains Mon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22976" y="42976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드래그앤드롭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2976" y="489204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0B1FB"/>
                </a:solidFill>
                <a:latin typeface="Pretendard"/>
              </a:rPr>
              <a:t>파일 끌어 놓기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52944" y="3291840"/>
            <a:ext cx="2194560" cy="2286000"/>
          </a:xfrm>
          <a:prstGeom prst="roundRect">
            <a:avLst>
              <a:gd name="adj" fmla="val 5000"/>
            </a:avLst>
          </a:prstGeom>
          <a:solidFill>
            <a:srgbClr val="1A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4" y="356616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80B1FB"/>
                </a:solidFill>
                <a:latin typeface="JetBrains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27264" y="42976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결재상신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4" y="489204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0B1FB"/>
                </a:solidFill>
                <a:latin typeface="Pretendard"/>
              </a:rPr>
              <a:t>버튼 한 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57232" y="3291840"/>
            <a:ext cx="2194560" cy="2286000"/>
          </a:xfrm>
          <a:prstGeom prst="roundRect">
            <a:avLst>
              <a:gd name="adj" fmla="val 5000"/>
            </a:avLst>
          </a:prstGeom>
          <a:solidFill>
            <a:srgbClr val="1A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31552" y="356616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80B1FB"/>
                </a:solidFill>
                <a:latin typeface="JetBrains Mono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31552" y="42976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검토·승인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31552" y="489204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0B1FB"/>
                </a:solidFill>
                <a:latin typeface="Pretendard"/>
              </a:rPr>
              <a:t>승인자 영역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B0B8C1"/>
                </a:solidFill>
                <a:latin typeface="JetBrains Mono"/>
              </a:rPr>
              <a:t>막히면 — AI 챗봇 / Tell me / 02-6150-7000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