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384048" cy="384048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7132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FFF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0B1FB"/>
                </a:solidFill>
                <a:latin typeface="JetBrains Mono"/>
              </a:rPr>
              <a:t>TYIA · 내부회계 포털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Pretendard"/>
              </a:rPr>
              <a:t>임직원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80B1FB"/>
                </a:solidFill>
                <a:latin typeface="Pretendard"/>
              </a:rPr>
              <a:t>5분이면 충분합니다.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B0B8C1"/>
                </a:solidFill>
                <a:latin typeface="Pretendard"/>
              </a:rPr>
              <a:t>(주)동양 내부회계관리실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8B95A1"/>
                </a:solidFill>
                <a:latin typeface="JetBrains Mono"/>
              </a:rPr>
              <a:t>발표일 · 발표자 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03504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400" b="1">
                <a:solidFill>
                  <a:srgbClr val="80B1FB"/>
                </a:solidFill>
                <a:latin typeface="JetBrains Mono"/>
              </a:rPr>
              <a:t>https://tyia.vercel.app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OVERVIEW · 핵심 한 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증빙 첨부, 결재상신, 학습 — 모두 한 곳에서.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3182F6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E36"/>
                </a:solidFill>
                <a:latin typeface="Pretendard"/>
              </a:rPr>
              <a:t>포털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매일 1번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39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본인 통제활동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5603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3182F6"/>
                </a:solidFill>
                <a:latin typeface="JetBrains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5204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E36"/>
                </a:solidFill>
                <a:latin typeface="Pretendard"/>
              </a:rPr>
              <a:t>드래그 앤 드롭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증빙 업로드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434839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PDF·Excel 자동 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2560320"/>
            <a:ext cx="36118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8346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3182F6"/>
                </a:solidFill>
                <a:latin typeface="JetBrains Mon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52044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E36"/>
                </a:solidFill>
                <a:latin typeface="Pretendard"/>
              </a:rPr>
              <a:t>결재상신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한 번 클릭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34839"/>
            <a:ext cx="2880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승인자에게 자동 전달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8B95A1"/>
                </a:solidFill>
                <a:latin typeface="Pretendard"/>
              </a:rPr>
              <a:t>“복잡한 시스템 아닙니다. 핵심은 세 단계 — 접속, 업로드, 상신. 이게 다입니다.”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STEP 01 · 로그인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사번 + ty + 사번 — 그게 전부.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8B95A1"/>
                </a:solidFill>
                <a:latin typeface="Pretendard"/>
              </a:rPr>
              <a:t>접속 정보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375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F1E36"/>
                </a:solidFill>
                <a:latin typeface="JetBrains Mono"/>
              </a:rPr>
              <a:t>https://tyia.vercel.app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사번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931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F1E36"/>
                </a:solidFill>
                <a:latin typeface="Pretendard"/>
              </a:rPr>
              <a:t>6자리 사번 (예: 101267)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초기 비밀번호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45262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F1E36"/>
                </a:solidFill>
                <a:latin typeface="JetBrains Mono"/>
              </a:rPr>
              <a:t>ty + 사번 (예: ty101267)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변경 위치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512064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0F1E36"/>
                </a:solidFill>
                <a:latin typeface="Pretendard"/>
              </a:rPr>
              <a:t>마이페이지 → 비밀번호 변경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2468880"/>
            <a:ext cx="3931920" cy="3657600"/>
          </a:xfrm>
          <a:prstGeom prst="roundRect">
            <a:avLst>
              <a:gd name="adj" fmla="val 8000"/>
            </a:avLst>
          </a:prstGeom>
          <a:solidFill>
            <a:srgbClr val="EEF4FE"/>
          </a:solidFill>
          <a:ln w="9525">
            <a:solidFill>
              <a:srgbClr val="80B1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3182F6"/>
                </a:solidFill>
                <a:latin typeface="Pretendard"/>
              </a:rPr>
              <a:t>🔐  보안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66160"/>
            <a:ext cx="3200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>
                <a:solidFill>
                  <a:srgbClr val="0F1E36"/>
                </a:solidFill>
                <a:latin typeface="Pretendard"/>
              </a:rPr>
              <a:t>첫 로그인 후 반드시 비밀번호를
변경해 주세요.
· 8자 이상
· 영문 + 숫자 혼합
· 공용 PC 사용 시 로그아웃 필수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ROLES · 역할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OWNER · CONTROLLER ·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560320"/>
            <a:ext cx="109728" cy="3291840"/>
          </a:xfrm>
          <a:prstGeom prst="rect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담당자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95A1"/>
                </a:solidFill>
                <a:latin typeface="JetBrains Mono"/>
              </a:rPr>
              <a:t>442명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5488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본인 통제활동 증빙
업로드 · 결재상신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256032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6552" y="2560320"/>
            <a:ext cx="109728" cy="32918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2926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16A34A"/>
                </a:solidFill>
                <a:latin typeface="JetBrains Mono"/>
              </a:rPr>
              <a:t>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33375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승인자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95A1"/>
                </a:solidFill>
                <a:latin typeface="JetBrains Mono"/>
              </a:rPr>
              <a:t>33명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28032" y="475488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담당자 상신 검토
승인 · 반려 처리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2560320"/>
            <a:ext cx="370332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2560320"/>
            <a:ext cx="109728" cy="32918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95944" y="2926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59E0B"/>
                </a:solidFill>
                <a:latin typeface="JetBrains Mono"/>
              </a:rPr>
              <a:t>ADMIN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95944" y="333756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>
                <a:solidFill>
                  <a:srgbClr val="0F1E36"/>
                </a:solidFill>
                <a:latin typeface="Pretendard"/>
              </a:rPr>
              <a:t>관리자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40690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8B95A1"/>
                </a:solidFill>
                <a:latin typeface="JetBrains Mono"/>
              </a:rPr>
              <a:t>3명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95944" y="475488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전사 관리 · 모니터링
메모 작성 (내부회계팀)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본인 역할은 로그인 후 우측 상단에서 확인할 수 있습니다.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STEP 02 · 담당자 (Owner)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증빙 업로드부터 결재상신까지.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73152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9352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880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증빙관리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메뉴 클릭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3924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37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통제활동 목록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337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본인 담당 활동 표시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496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94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업로드 버튼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7947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→ 모달 창 열림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3068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2519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드래그 앤 드롭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2519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또는 클릭 (PDF/Excel)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7640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7091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자동 중간저장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7091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파일 1개마다 자동 ✨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2212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1663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결재상신 버튼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1663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모든 모집단 완료 후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678424"/>
            <a:ext cx="329184" cy="329184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JetBrains Mono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6235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E36"/>
                </a:solidFill>
                <a:latin typeface="Pretendard"/>
              </a:rPr>
              <a:t>자동 알림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56235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승인자에게 즉시 전송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2560320"/>
            <a:ext cx="3520440" cy="365760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292608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59E0B"/>
                </a:solidFill>
                <a:latin typeface="Pretendard"/>
              </a:rPr>
              <a:t>⚠️  결재상신 조건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66160"/>
            <a:ext cx="2971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333333"/>
                </a:solidFill>
                <a:latin typeface="Pretendard"/>
              </a:rPr>
              <a:t>결재상신은 모든 모집단
항목이 업로드된 뒤에만
가능합니다.
진행률(예: 8/10)이
100% 가 되어야
버튼이 활성화됩니다.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FAQ · 담당자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자주 묻는 질문 4가지.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5532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3182F6"/>
                </a:solidFill>
                <a:latin typeface="Pretendard"/>
              </a:rPr>
              <a:t>Q1. 잘못 올렸어요. 바꿀 수 있나요?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92040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교체 버튼 → 새 파일 선택 → 중간저장 누르면 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468880"/>
            <a:ext cx="5532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761488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3182F6"/>
                </a:solidFill>
                <a:latin typeface="Pretendard"/>
              </a:rPr>
              <a:t>Q2. 삭제하고 다시 올리고 싶어요.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1112" y="3337560"/>
            <a:ext cx="4892040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삭제 버튼 → 즉시 DB·Storage 에서 제거 → 새로 업로드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07991"/>
            <a:ext cx="5532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0059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F59E0B"/>
                </a:solidFill>
                <a:latin typeface="Pretendard"/>
              </a:rPr>
              <a:t>Q3. 상신 후에도 수정할 수 있나요?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76671"/>
            <a:ext cx="4892040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승인 전: 승인자가 반려해야 수정 가능
승인 후: 관리자에게 ‘수정제출’ 요청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4507991"/>
            <a:ext cx="553212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4800599"/>
            <a:ext cx="4892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DC2626"/>
                </a:solidFill>
                <a:latin typeface="Pretendard"/>
              </a:rPr>
              <a:t>Q4. 다른 사람 증빙 볼 수 있나요?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5376671"/>
            <a:ext cx="4892040" cy="868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❌ 절대 불가능. 본인 담당 활동만 표시됩니다.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STEP 03 · 승인자 (Controller)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한 번의 클릭으로 검토 완료.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24912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증빙관리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7614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본인 담당 통제활동 표시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75304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7647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39896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상신 건만 노출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77647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담당자가 상신한 활동에만 액션 버튼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90288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791456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548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승인 / 반려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79145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사유 입력 시 담당자에게 자동 전달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05272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986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다운로드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806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개별 또는 전체 ZIP 다운로드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B95A1"/>
                </a:solidFill>
                <a:latin typeface="Pretendard"/>
              </a:rPr>
              <a:t>“반려하실 때는 사유를 적어주셔야 담당자가 무엇을 수정할지 알 수 있어요.”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STEP 04 · 관리자 (Admin)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검토결과 · 메모 · 수정제출.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5532120" cy="37490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Pretendard"/>
              </a:rPr>
              <a:t>증빙관리 페이지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0F1E36"/>
                </a:solidFill>
                <a:latin typeface="Pretendard"/>
              </a:rPr>
              <a:t>검토결과 + 메모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Pretendard"/>
              </a:rPr>
              <a:t>드롭다운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11480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미검토 / 검토중 / 완료 / 수정제출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Pretendard"/>
              </a:rPr>
              <a:t>메모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475488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담당자·승인자에게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949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Pretendard"/>
              </a:rPr>
              <a:t>수정제출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5394960"/>
            <a:ext cx="3429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모든 승인 자동 취소 → 담당자 재상신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560320"/>
            <a:ext cx="5349240" cy="3749039"/>
          </a:xfrm>
          <a:prstGeom prst="roundRect">
            <a:avLst>
              <a:gd name="adj" fmla="val 8000"/>
            </a:avLst>
          </a:prstGeom>
          <a:solidFill>
            <a:srgbClr val="0F1E36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92608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관리자 페이지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33756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JetBrains Mono"/>
              </a:rPr>
              <a:t>/admin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14800"/>
            <a:ext cx="4617720" cy="1920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B0B8C1"/>
                </a:solidFill>
                <a:latin typeface="Pretendard"/>
              </a:rPr>
              <a:t>· 사용자 마스터 관리
· 통제활동 / 모집단 업로드
· 진행률 모니터링
· 공지사항 / 매뉴얼 발행
· 강좌·웹툰·빙고·포인트 관리
· 알림 발송 / AI 챗봇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BEYOND CONTROLS · 부가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내부회계 외에도 학습과 소통을 한 곳에.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182F6"/>
                </a:solidFill>
                <a:latin typeface="Pretendard"/>
              </a:rPr>
              <a:t>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빙고게임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매일 25문제 · 줄 완성 시 포인트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4688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743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182F6"/>
                </a:solidFill>
                <a:latin typeface="Pretendard"/>
              </a:rPr>
              <a:t>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337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강좌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7490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내부회계 교육 영상 학습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468880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27432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182F6"/>
                </a:solidFill>
                <a:latin typeface="Pretendard"/>
              </a:rPr>
              <a:t>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3337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회사소식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58784" y="37490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DART 공시 + 뉴스 자동 수집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62272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182F6"/>
                </a:solidFill>
                <a:latin typeface="Pretendard"/>
              </a:rPr>
              <a:t>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30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AI 챗봇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4243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내부회계 관련 질의응답 24시간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4462272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47365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182F6"/>
                </a:solidFill>
                <a:latin typeface="Pretendard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5330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Tell 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36592" y="574243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회사에 익명으로 제안하기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4462272"/>
            <a:ext cx="36576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8784" y="4736592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>
                <a:solidFill>
                  <a:srgbClr val="3182F6"/>
                </a:solidFill>
                <a:latin typeface="Pretendard"/>
              </a:rPr>
              <a:t>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53309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포인트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58784" y="574243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4E5A6F"/>
                </a:solidFill>
                <a:latin typeface="Pretendard"/>
              </a:rPr>
              <a:t>활동별 포인트 적립 + 월간 랭킹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SUPPORT · 도움이 필요할 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막히면 여기로.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852928"/>
            <a:ext cx="292608" cy="292608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724912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3182F6"/>
                </a:solidFill>
                <a:latin typeface="Pretendard"/>
              </a:rPr>
              <a:t>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74320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알림함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7614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첫 화면 우측 상단 (벨 아이콘)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75304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3867912"/>
            <a:ext cx="292608" cy="292608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3739896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16A34A"/>
                </a:solidFill>
                <a:latin typeface="Pretendard"/>
              </a:rPr>
              <a:t>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758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AI 챗봇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7647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/chatbot — 24시간 즉답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590288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882896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47548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F59E0B"/>
                </a:solidFill>
                <a:latin typeface="Pretendard"/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77316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Tell 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791456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/tellme — 익명 문의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605272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897880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5769864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DC2626"/>
                </a:solidFill>
                <a:latin typeface="Pretendard"/>
              </a:rPr>
              <a:t>☎️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57881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0F1E36"/>
                </a:solidFill>
                <a:latin typeface="Pretendard"/>
              </a:rPr>
              <a:t>내부회계팀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8064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02 - 6150 - 7000 · 평일 09:00~18:00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SECURITY · 보안 안내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안전한 사용을 위한 4가지 약속.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11064240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61488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7432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F1E36"/>
                </a:solidFill>
                <a:latin typeface="Pretendard"/>
              </a:rPr>
              <a:t>비밀번호 정책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761488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8자 이상 · 영문 + 숫자 혼합 · 회사 공식 정책 준수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93592"/>
            <a:ext cx="11064240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94760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76472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F1E36"/>
                </a:solidFill>
                <a:latin typeface="Pretendard"/>
              </a:rPr>
              <a:t>공용 PC 로그아웃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7947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회의실·교육장 PC 사용 시 반드시 로그아웃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26864"/>
            <a:ext cx="11064240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2803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9744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F1E36"/>
                </a:solidFill>
                <a:latin typeface="Pretendard"/>
              </a:rPr>
              <a:t>피싱 방지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828032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의심스러운 링크 클릭 금지 · IT팀에 즉시 신고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660136"/>
            <a:ext cx="11064240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861304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3182F6"/>
                </a:solidFill>
                <a:latin typeface="JetBrains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843016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0F1E36"/>
                </a:solidFill>
                <a:latin typeface="Pretendard"/>
              </a:rPr>
              <a:t>최소 권한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5861304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4E5A6F"/>
                </a:solidFill>
                <a:latin typeface="Pretendard"/>
              </a:rPr>
              <a:t>본인 데이터만 조회 가능 (RLS 시스템적 차단)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164592"/>
            <a:ext cx="164592" cy="164592"/>
          </a:xfrm>
          <a:prstGeom prst="ellipse">
            <a:avLst/>
          </a:prstGeom>
          <a:solidFill>
            <a:srgbClr val="31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88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0F1E36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02920"/>
            <a:ext cx="12191695" cy="9525"/>
          </a:xfrm>
          <a:prstGeom prst="rect">
            <a:avLst/>
          </a:prstGeom>
          <a:solidFill>
            <a:srgbClr val="E5E8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3182F6"/>
                </a:solidFill>
                <a:latin typeface="JetBrains Mono"/>
              </a:rPr>
              <a:t>LIVE DEMO · 시연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6984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0F1E36"/>
                </a:solidFill>
                <a:latin typeface="Pretendard"/>
              </a:rPr>
              <a:t>5분 시연 — 9 단계.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로그인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4688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홈 KPI / 검토 상태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93024" y="2468880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58784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92608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증빙관리 → 모달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44784" y="263347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58184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227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2153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PDF 드래그앤드롭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9227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758184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39227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6592" y="42153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결재상신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39227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93024" y="3758184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58784" y="39227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58784" y="4215384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관리자 검토 + 메모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44784" y="392277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60s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047488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04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빙고 1게임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70832" y="5047488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36592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5504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AI 챗봇 1회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2592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30s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3024" y="5047488"/>
            <a:ext cx="3657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58784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3182F6"/>
                </a:solidFill>
                <a:latin typeface="JetBrains Mono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58784" y="5504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F1E36"/>
                </a:solidFill>
                <a:latin typeface="Pretendard"/>
              </a:rPr>
              <a:t>로그아웃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44784" y="52120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1">
                <a:solidFill>
                  <a:srgbClr val="8B95A1"/>
                </a:solidFill>
                <a:latin typeface="JetBrains Mono"/>
              </a:rPr>
              <a:t>15s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Pretendard"/>
              </a:rPr>
              <a:t>내부회계 포털 (TYIA) · 임직원 사용법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>
                <a:solidFill>
                  <a:srgbClr val="B0B8C1"/>
                </a:solidFill>
                <a:latin typeface="JetBrains Mono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TONGYANG · INTERNAL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>
                <a:solidFill>
                  <a:srgbClr val="FFFFFF"/>
                </a:solidFill>
                <a:latin typeface="Pretendard"/>
              </a:rPr>
              <a:t>한 장으로 끝.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0896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429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776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Pretendard"/>
              </a:rPr>
              <a:t>tyia.vercel.app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310896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2" y="3429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2" y="39776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Pretendard"/>
              </a:rPr>
              <a:t>사번 / ty + 사번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55664" y="310896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75704" y="3429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75704" y="39776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Pretendard"/>
              </a:rPr>
              <a:t>업로드 → 상신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3456" y="3108960"/>
            <a:ext cx="2743200" cy="2377440"/>
          </a:xfrm>
          <a:prstGeom prst="roundRect">
            <a:avLst>
              <a:gd name="adj" fmla="val 8000"/>
            </a:avLst>
          </a:prstGeom>
          <a:solidFill>
            <a:srgbClr val="1A2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83496" y="34290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80B1FB"/>
                </a:solidFill>
                <a:latin typeface="JetBrains Mono"/>
              </a:rPr>
              <a:t>도움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83496" y="3977640"/>
            <a:ext cx="21945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FFFFFF"/>
                </a:solidFill>
                <a:latin typeface="Pretendard"/>
              </a:rPr>
              <a:t>AI 챗봇 / Tell 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80B1FB"/>
                </a:solidFill>
                <a:latin typeface="Pretendard"/>
              </a:rPr>
              <a:t>업무에 바로 쓰세요. 5분이면 충분합니다.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774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06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80B1FB"/>
                </a:solidFill>
                <a:latin typeface="Pretendard"/>
              </a:rPr>
              <a:t>사용 중 막힌 부분이 있다면 무엇이든 물어보세요.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>
                <a:solidFill>
                  <a:srgbClr val="B0B8C1"/>
                </a:solidFill>
                <a:latin typeface="JetBrains Mono"/>
              </a:rPr>
              <a:t>내부회계팀 · 02-6150-7000 · 평일 09:00 ~ 18:00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